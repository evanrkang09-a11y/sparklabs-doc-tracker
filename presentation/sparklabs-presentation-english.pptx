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237744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2120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SparkLabs Korea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Document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BEAFE"/>
                </a:solidFill>
                <a:latin typeface="Calibri"/>
              </a:rPr>
              <a:t>AI-Powered Investment Agreement Automation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4572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  <a:latin typeface="Calibri"/>
              </a:rPr>
              <a:t>August 2026  |  AI Agent Internship —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Website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55448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The Problem — 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What the Platform Solves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74320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How to Use It  (tab by tab)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Results &amp; Improvements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93192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AI Tools Used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2064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Limitations &amp; Roadmap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12064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Website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What is the SparkLabs Document Tracker?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9494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Calibri"/>
              </a:rPr>
              <a:t>An internal web platform for the
SparkLabs investment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92">
                <a:solidFill>
                  <a:srgbClr val="3B82F6"/>
                </a:solidFill>
                <a:latin typeface="Calibri"/>
              </a:rPr>
              <a:t>● </a:t>
            </a:r>
            <a:r>
              <a:rPr sz="1600">
                <a:solidFill>
                  <a:srgbClr val="1E293B"/>
                </a:solidFill>
                <a:latin typeface="Calibri"/>
              </a:rPr>
              <a:t>Auto-generate RCPS (Redeemable Convertible Preferred Stock) agreements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92">
                <a:solidFill>
                  <a:srgbClr val="3B82F6"/>
                </a:solidFill>
                <a:latin typeface="Calibri"/>
              </a:rPr>
              <a:t>● </a:t>
            </a:r>
            <a:r>
              <a:rPr sz="1600">
                <a:solidFill>
                  <a:srgbClr val="1E293B"/>
                </a:solidFill>
                <a:latin typeface="Calibri"/>
              </a:rPr>
              <a:t>Auto-generate SAFE (Simple Agreement for Future Equity) agreements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92">
                <a:solidFill>
                  <a:srgbClr val="3B82F6"/>
                </a:solidFill>
                <a:latin typeface="Calibri"/>
              </a:rPr>
              <a:t>● </a:t>
            </a:r>
            <a:r>
              <a:rPr sz="1600">
                <a:solidFill>
                  <a:srgbClr val="1E293B"/>
                </a:solidFill>
                <a:latin typeface="Calibri"/>
              </a:rPr>
              <a:t>Track all investment deals in one place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92">
                <a:solidFill>
                  <a:srgbClr val="3B82F6"/>
                </a:solidFill>
                <a:latin typeface="Calibri"/>
              </a:rPr>
              <a:t>● </a:t>
            </a:r>
            <a:r>
              <a:rPr sz="1600">
                <a:solidFill>
                  <a:srgbClr val="1E293B"/>
                </a:solidFill>
                <a:latin typeface="Calibri"/>
              </a:rPr>
              <a:t>Google Drive integration — auto-create a folder per deal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92">
                <a:solidFill>
                  <a:srgbClr val="3B82F6"/>
                </a:solidFill>
                <a:latin typeface="Calibri"/>
              </a:rPr>
              <a:t>● </a:t>
            </a:r>
            <a:r>
              <a:rPr sz="1600">
                <a:solidFill>
                  <a:srgbClr val="1E293B"/>
                </a:solidFill>
                <a:latin typeface="Calibri"/>
              </a:rPr>
              <a:t>Auto-share folders with the entire @sparklabs.co.kr team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92">
                <a:solidFill>
                  <a:srgbClr val="3B82F6"/>
                </a:solidFill>
                <a:latin typeface="Calibri"/>
              </a:rPr>
              <a:t>● </a:t>
            </a:r>
            <a:r>
              <a:rPr sz="1600">
                <a:solidFill>
                  <a:srgbClr val="1E293B"/>
                </a:solidFill>
                <a:latin typeface="Calibri"/>
              </a:rPr>
              <a:t>Deployed on Vercel — accessible from anywhere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417320"/>
            <a:ext cx="406908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574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Next.js  ·  React 19  ·  TypeScript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Tailwind CSS v4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Vercel  ·  Vercel Blob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Google Drive API  ·  Google Gemini API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NextAuth (Google OAuth)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840480"/>
            <a:ext cx="4069080" cy="26060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9776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Calibri"/>
              </a:rPr>
              <a:t>Deployed 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389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56AA"/>
                </a:solidFill>
                <a:latin typeface="Calibri"/>
              </a:rPr>
              <a:t>sparklabs-doc-tracker.vercel.app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92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🔒  Internal users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 — Before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291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BEAFE"/>
                </a:solidFill>
                <a:latin typeface="Calibri"/>
              </a:rPr>
              <a:t>Time per
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2~3
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per team member, per deal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417320"/>
            <a:ext cx="772667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600200"/>
            <a:ext cx="7223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23">
                <a:solidFill>
                  <a:srgbClr val="DC2626"/>
                </a:solidFill>
                <a:latin typeface="Calibri"/>
              </a:rPr>
              <a:t>● </a:t>
            </a:r>
            <a:r>
              <a:rPr sz="1650">
                <a:solidFill>
                  <a:srgbClr val="1E293B"/>
                </a:solidFill>
                <a:latin typeface="Calibri"/>
              </a:rPr>
              <a:t>Open a Word template → fill in every blank by hand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1023">
                <a:solidFill>
                  <a:srgbClr val="DC2626"/>
                </a:solidFill>
                <a:latin typeface="Calibri"/>
              </a:rPr>
              <a:t>● </a:t>
            </a:r>
            <a:r>
              <a:rPr sz="1650">
                <a:solidFill>
                  <a:srgbClr val="1E293B"/>
                </a:solidFill>
                <a:latin typeface="Calibri"/>
              </a:rPr>
              <a:t>Same info (company name, date, amount) typed in many places repeatedly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1023">
                <a:solidFill>
                  <a:srgbClr val="DC2626"/>
                </a:solidFill>
                <a:latin typeface="Calibri"/>
              </a:rPr>
              <a:t>● </a:t>
            </a:r>
            <a:r>
              <a:rPr sz="1650">
                <a:solidFill>
                  <a:srgbClr val="1E293B"/>
                </a:solidFill>
                <a:latin typeface="Calibri"/>
              </a:rPr>
              <a:t>Typos and missing fields — requires manual review of the entire document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1023">
                <a:solidFill>
                  <a:srgbClr val="DC2626"/>
                </a:solidFill>
                <a:latin typeface="Calibri"/>
              </a:rPr>
              <a:t>● </a:t>
            </a:r>
            <a:r>
              <a:rPr sz="1650">
                <a:solidFill>
                  <a:srgbClr val="1E293B"/>
                </a:solidFill>
                <a:latin typeface="Calibri"/>
              </a:rPr>
              <a:t>Files scattered across emails and folders — no central tracking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1023">
                <a:solidFill>
                  <a:srgbClr val="DC2626"/>
                </a:solidFill>
                <a:latin typeface="Calibri"/>
              </a:rPr>
              <a:t>● </a:t>
            </a:r>
            <a:r>
              <a:rPr sz="1650">
                <a:solidFill>
                  <a:srgbClr val="1E293B"/>
                </a:solidFill>
                <a:latin typeface="Calibri"/>
              </a:rPr>
              <a:t>Each team member may have a different version of the template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1023">
                <a:solidFill>
                  <a:srgbClr val="DC2626"/>
                </a:solidFill>
                <a:latin typeface="Calibri"/>
              </a:rPr>
              <a:t>● </a:t>
            </a:r>
            <a:r>
              <a:rPr sz="1650">
                <a:solidFill>
                  <a:srgbClr val="1E293B"/>
                </a:solidFill>
                <a:latin typeface="Calibri"/>
              </a:rPr>
              <a:t>Every new deal starts from scratch — nothing is reused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the Platform Solves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749039" cy="1508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No Repeated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Company name, date etc. typed once — auto-filled everywhere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749039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72768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Error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29968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Missing fields show as blanks — nothing gets silently skipped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463040"/>
            <a:ext cx="3749039" cy="1508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572768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Built-in Defaults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029968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SparkLabs standard terms pre-filled (1% dividend, 12% late fee…)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3749039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36976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One-Click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694176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Finished agreement exported as .docx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127248"/>
            <a:ext cx="3749039" cy="1508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236976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Drive Auto-Integration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694176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Deal folder created automatically and shared with the whole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127248"/>
            <a:ext cx="3749039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3236976"/>
            <a:ext cx="3520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Central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694176"/>
            <a:ext cx="35204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All deals and documents in one searchable 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to Use It  ①  Deal List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🗂️  Deal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BEAFE"/>
                </a:solidFill>
                <a:latin typeface="Calibri"/>
              </a:rPr>
              <a:t>Investment Pipeline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See all active deals at a glance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Filter by fund or deal status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Add new deals and edit deal info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Jump to agreement drafting tab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Open Google Drive folder directly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Check document upload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417320"/>
            <a:ext cx="598932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3200400"/>
            <a:ext cx="5989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[ Screenshot ]
Deal List Tab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to Use It  ②  RCPS Agreement 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📄  RCPS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Calibri"/>
              </a:rPr>
              <a:t>Redeemable Convertible Preferred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Template has 69 blank fields — all filled automatically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Repeated values (date, names, addresses) entered once → appear everywhere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Covers preamble, signature block, Appendix 1 &amp; 2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5 sections: Dates / Parties / Terms / Notices / Standard Clauses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Standard clauses come pre-filled with SparkLabs defaults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Download as .docx instantly when 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417320"/>
            <a:ext cx="598932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3200400"/>
            <a:ext cx="5989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[ Screenshot ]
RCPS Agreement Tab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to Use It  ③  SAFE Agreement 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📄  SAFE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Calibri"/>
              </a:rPr>
              <a:t>Simple Agreement for Future 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Template has 40 blank fields — all filled automatically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Valuation cap, discount rate, payment deadline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Interested party info fills Appendix 1 &amp; 3 simultaneously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Standard clauses pre-filled (12% penalty, 120% damages…)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Download as .docx instantly when done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8 sections: Parties / Terms / Standards / Sig Blocks / Appendices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417320"/>
            <a:ext cx="598932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3200400"/>
            <a:ext cx="5989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[ Screenshot ]
SAFE Agreement Tab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to Use It  ④  Upload &amp; Google Drive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📤  Document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Upload agreements and related files directly from the website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Stored securely on Vercel Blob (private — not public)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Uploaded files automatically mirrored to Google Drive folder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File list shows name and upload timestamp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48640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🗂️  Google Drive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One click → deal folder created automatically in Drive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Organized under the fund's parent folder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Auto-shared with entire @sparklabs.co.kr team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Delete folder with inline confirmation if created by mistake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FFFFFF"/>
                </a:solidFill>
                <a:latin typeface="Calibri"/>
              </a:rPr>
              <a:t>Direct link to the Drive folder from the deal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&amp;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2~3
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per agreement
(manual input + review)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8C8"/>
                </a:solidFill>
                <a:latin typeface="Calibri"/>
              </a:rPr>
              <a:t>↓  Every blank filled by hand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463040"/>
            <a:ext cx="5989320" cy="3657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6002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~3
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661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per agreement
(fill form → download)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434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FFC8"/>
                </a:solidFill>
                <a:latin typeface="Calibri"/>
              </a:rPr>
              <a:t>↓  69 blanks filled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49240"/>
            <a:ext cx="1129284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Over 97% reduction in time per agreement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Two different roles — inside the app vs. building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AI inside 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Google Gemini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gemini-flash-lite-latest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Filename classification — when uploaded files have unusual names, Gemini identifies what document type they are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In-app chatbot — answers questions about the SparkLabs investment process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Cost: ~$0.0002 per call (cheapest available model — see next slide)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00" cy="50749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Calibri"/>
              </a:rPr>
              <a:t>AI used to build the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011680"/>
            <a:ext cx="5120640" cy="1691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214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Claude  (Anthropic)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7860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Code writing, debugging, feature design
Complex DOCX XML manipulation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822191"/>
            <a:ext cx="5120640" cy="1691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Claude Code  (CLI)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389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AI coding assistant in the terminal
Made development possible with no prior coding experience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9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Full stack:   Next.js  ·  TypeScript  ·  Tailwind CSS v4  ·  Vercel  ·  Vercel Blob  ·  Google Drive API  ·  Google Gemini API  ·  NextAuth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Google Gemini API —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How much does the AI actually cost?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38328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Model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gemini-flash-
lite-latest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Calibri"/>
              </a:rPr>
              <a:t>Google's cheapest
current AI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2834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Cost per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~$0.0002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per API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13× cheaper than Claude Haiku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417320"/>
            <a:ext cx="4846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727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Estimated annual usage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103120"/>
            <a:ext cx="4663440" cy="6583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Filename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402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~150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~$0.03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880360"/>
            <a:ext cx="4663440" cy="65836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3017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Chatbot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175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~300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0175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~$0.06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675887"/>
            <a:ext cx="466344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Annual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94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BEAFE"/>
                </a:solidFill>
                <a:latin typeface="Calibri"/>
              </a:rPr>
              <a:t>~450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7673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B82F6"/>
                </a:solidFill>
                <a:latin typeface="Calibri"/>
              </a:rPr>
              <a:t>~$0.09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* At 10× usage: ~$0.90/yr   *  At 100× usage: ~$9.00/yr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Free tier: up to 60 requests/min at no charge
(current usage is comfortably within the free tier)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417320"/>
            <a:ext cx="2606040" cy="5074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57276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Annual AI
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331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$0.09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03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per year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206240"/>
            <a:ext cx="21945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343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Starbucks
American coffee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0292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BF7D0"/>
                </a:solidFill>
                <a:latin typeface="Calibri"/>
              </a:rPr>
              <a:t>~$5.00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669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 coffee &gt; 1 year of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⚠️  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99">
                <a:solidFill>
                  <a:srgbClr val="EA580C"/>
                </a:solidFill>
                <a:latin typeface="Calibri"/>
              </a:rPr>
              <a:t>● </a:t>
            </a:r>
            <a:r>
              <a:rPr sz="1450">
                <a:solidFill>
                  <a:srgbClr val="FFFFFF"/>
                </a:solidFill>
                <a:latin typeface="Calibri"/>
              </a:rPr>
              <a:t>Agreement template updates are manual
(XML must be edited directly when legal clauses change)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EA580C"/>
                </a:solidFill>
                <a:latin typeface="Calibri"/>
              </a:rPr>
              <a:t>● </a:t>
            </a:r>
            <a:r>
              <a:rPr sz="1450">
                <a:solidFill>
                  <a:srgbClr val="FFFFFF"/>
                </a:solidFill>
                <a:latin typeface="Calibri"/>
              </a:rPr>
              <a:t>Multiple interested parties not yet supported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EA580C"/>
                </a:solidFill>
                <a:latin typeface="Calibri"/>
              </a:rPr>
              <a:t>● </a:t>
            </a:r>
            <a:r>
              <a:rPr sz="1450">
                <a:solidFill>
                  <a:srgbClr val="FFFFFF"/>
                </a:solidFill>
                <a:latin typeface="Calibri"/>
              </a:rPr>
              <a:t>Not fully optimized for mobile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EA580C"/>
                </a:solidFill>
                <a:latin typeface="Calibri"/>
              </a:rPr>
              <a:t>● </a:t>
            </a:r>
            <a:r>
              <a:rPr sz="1450">
                <a:solidFill>
                  <a:srgbClr val="FFFFFF"/>
                </a:solidFill>
                <a:latin typeface="Calibri"/>
              </a:rPr>
              <a:t>No e-signature — wet signatures still required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EA580C"/>
                </a:solidFill>
                <a:latin typeface="Calibri"/>
              </a:rPr>
              <a:t>● </a:t>
            </a:r>
            <a:r>
              <a:rPr sz="1450">
                <a:solidFill>
                  <a:srgbClr val="FFFFFF"/>
                </a:solidFill>
                <a:latin typeface="Calibri"/>
              </a:rPr>
              <a:t>No user permission levels — everyone sees everything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53212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727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Calibri"/>
              </a:rPr>
              <a:t>🚀  Planned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99">
                <a:solidFill>
                  <a:srgbClr val="1A56AA"/>
                </a:solidFill>
                <a:latin typeface="Calibri"/>
              </a:rPr>
              <a:t>● </a:t>
            </a:r>
            <a:r>
              <a:rPr sz="1450">
                <a:solidFill>
                  <a:srgbClr val="1E293B"/>
                </a:solidFill>
                <a:latin typeface="Calibri"/>
              </a:rPr>
              <a:t>Email notifications (contract sent / signed)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1A56AA"/>
                </a:solidFill>
                <a:latin typeface="Calibri"/>
              </a:rPr>
              <a:t>● </a:t>
            </a:r>
            <a:r>
              <a:rPr sz="1450">
                <a:solidFill>
                  <a:srgbClr val="1E293B"/>
                </a:solidFill>
                <a:latin typeface="Calibri"/>
              </a:rPr>
              <a:t>E-signature integration  (e.g. DocuSign)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1A56AA"/>
                </a:solidFill>
                <a:latin typeface="Calibri"/>
              </a:rPr>
              <a:t>● </a:t>
            </a:r>
            <a:r>
              <a:rPr sz="1450">
                <a:solidFill>
                  <a:srgbClr val="1E293B"/>
                </a:solidFill>
                <a:latin typeface="Calibri"/>
              </a:rPr>
              <a:t>AI-powered contract review — flag unusual clauses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1A56AA"/>
                </a:solidFill>
                <a:latin typeface="Calibri"/>
              </a:rPr>
              <a:t>● </a:t>
            </a:r>
            <a:r>
              <a:rPr sz="1450">
                <a:solidFill>
                  <a:srgbClr val="1E293B"/>
                </a:solidFill>
                <a:latin typeface="Calibri"/>
              </a:rPr>
              <a:t>Fund-level investment statistics dashboard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1A56AA"/>
                </a:solidFill>
                <a:latin typeface="Calibri"/>
              </a:rPr>
              <a:t>● </a:t>
            </a:r>
            <a:r>
              <a:rPr sz="1450">
                <a:solidFill>
                  <a:srgbClr val="1E293B"/>
                </a:solidFill>
                <a:latin typeface="Calibri"/>
              </a:rPr>
              <a:t>Multiple interested party support</a:t>
            </a:r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sz="899">
                <a:solidFill>
                  <a:srgbClr val="1A56AA"/>
                </a:solidFill>
                <a:latin typeface="Calibri"/>
              </a:rPr>
              <a:t>● </a:t>
            </a:r>
            <a:r>
              <a:rPr sz="1450">
                <a:solidFill>
                  <a:srgbClr val="1E293B"/>
                </a:solidFill>
                <a:latin typeface="Calibri"/>
              </a:rPr>
              <a:t>Contract version control (track revision history)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BEAFE"/>
                </a:solidFill>
                <a:latin typeface="Calibri"/>
              </a:rPr>
              <a:t>Live Demonstration of the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343400"/>
            <a:ext cx="5806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BEAFE"/>
                </a:solidFill>
                <a:latin typeface="Calibri"/>
              </a:rPr>
              <a:t>Demonstrating the actual site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292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Deal List     ·     RCPS Agreement Generation &amp; Download     ·     Google Drive Folder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