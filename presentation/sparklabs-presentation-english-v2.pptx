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246888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5303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SparkLabs Korea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Document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BEAFE"/>
                </a:solidFill>
                <a:latin typeface="Calibri"/>
              </a:rPr>
              <a:t>AI-Powered Investment Operations Automation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29000"/>
            <a:ext cx="45720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611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BEAFE"/>
                </a:solidFill>
                <a:latin typeface="Calibri"/>
              </a:rPr>
              <a:t>August 2026  |  AI Agent Internship — Final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297680"/>
            <a:ext cx="5943600" cy="658368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425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11 features   ·   Google Gemini API   ·   Next.js 16   ·   Deployed on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9164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73736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Website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55448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712" y="169164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73736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The Problem — Before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8803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2608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All Features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74320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28803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92608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Feature Deep Dives  (6 features)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06908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11480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AI Tools Used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93192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406908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411480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Gemini API Cost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120640"/>
            <a:ext cx="5303520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25780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530352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Results &amp; Improvements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5120640"/>
            <a:ext cx="5303520" cy="9601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2" y="525780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3488" y="5303520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Limitations · Roadmap · Live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Website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What is the SparkLabs Document Tracker?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9494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  <a:latin typeface="Calibri"/>
              </a:rPr>
              <a:t>An All-in-One internal web platform
for the SparkLabs investment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6492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1E293B"/>
                </a:solidFill>
                <a:latin typeface="Calibri"/>
              </a:rPr>
              <a:t>Automates the full investment pipeline  (doc collection → diligence → agreement → execution → conversion)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1E293B"/>
                </a:solidFill>
                <a:latin typeface="Calibri"/>
              </a:rPr>
              <a:t>Auto-generates RCPS / SAFE agreements  (one-click .docx download)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1E293B"/>
                </a:solidFill>
                <a:latin typeface="Calibri"/>
              </a:rPr>
              <a:t>Google Drive integration — auto-creates a deal folder and shares with @sparklabs.co.kr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1E293B"/>
                </a:solidFill>
                <a:latin typeface="Calibri"/>
              </a:rPr>
              <a:t>Google Gemini AI — file classification · diligence analysis · chatbot · execution extraction · conversion calc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1E293B"/>
                </a:solidFill>
                <a:latin typeface="Calibri"/>
              </a:rPr>
              <a:t>Full KO/EN bilingual support  |  Google OAuth login  |  Multi-fund support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3B82F6"/>
                </a:solidFill>
                <a:latin typeface="Calibri"/>
              </a:rPr>
              <a:t>● </a:t>
            </a:r>
            <a:r>
              <a:rPr sz="1550">
                <a:solidFill>
                  <a:srgbClr val="1E293B"/>
                </a:solidFill>
                <a:latin typeface="Calibri"/>
              </a:rPr>
              <a:t>Deployed on Vercel — accessible from anywhere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417320"/>
            <a:ext cx="4069080" cy="2514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554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Tech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084831"/>
            <a:ext cx="3749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Next.js 16  ·  React 19  ·  TypeScript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Tailwind CSS v4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Vercel  ·  Vercel Blob (file storage)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Google Drive API  ·  Google Gemini API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NextAuth (Google OAuth login)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4069080"/>
            <a:ext cx="4069080" cy="23774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20624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  <a:latin typeface="Calibri"/>
              </a:rPr>
              <a:t>Deployed 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64515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6AA"/>
                </a:solidFill>
                <a:latin typeface="Calibri"/>
              </a:rPr>
              <a:t>sparklabs-doc-tracker.vercel.app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12064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Google account login required
(@sparklabs.co.kr — internal only)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 — Before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29184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BEAFE"/>
                </a:solidFill>
                <a:latin typeface="Calibri"/>
              </a:rPr>
              <a:t>Time per
agreement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2~3
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per team member, per deal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417320"/>
            <a:ext cx="7726679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57276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  <a:latin typeface="Calibri"/>
              </a:rPr>
              <a:t>Key problems before the platform was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10312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961">
                <a:solidFill>
                  <a:srgbClr val="DC2626"/>
                </a:solidFill>
                <a:latin typeface="Calibri"/>
              </a:rPr>
              <a:t>● </a:t>
            </a:r>
            <a:r>
              <a:rPr sz="1550">
                <a:solidFill>
                  <a:srgbClr val="1E293B"/>
                </a:solidFill>
                <a:latin typeface="Calibri"/>
              </a:rPr>
              <a:t>Fill every blank in the Word template by hand — same info repeated dozens of times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DC2626"/>
                </a:solidFill>
                <a:latin typeface="Calibri"/>
              </a:rPr>
              <a:t>● </a:t>
            </a:r>
            <a:r>
              <a:rPr sz="1550">
                <a:solidFill>
                  <a:srgbClr val="1E293B"/>
                </a:solidFill>
                <a:latin typeface="Calibri"/>
              </a:rPr>
              <a:t>Documents scattered across emails, folders, and Drive — no central tracking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DC2626"/>
                </a:solidFill>
                <a:latin typeface="Calibri"/>
              </a:rPr>
              <a:t>● </a:t>
            </a:r>
            <a:r>
              <a:rPr sz="1550">
                <a:solidFill>
                  <a:srgbClr val="1E293B"/>
                </a:solidFill>
                <a:latin typeface="Calibri"/>
              </a:rPr>
              <a:t>No structured due diligence checklist — impossible to track item-by-item completion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DC2626"/>
                </a:solidFill>
                <a:latin typeface="Calibri"/>
              </a:rPr>
              <a:t>● </a:t>
            </a:r>
            <a:r>
              <a:rPr sz="1550">
                <a:solidFill>
                  <a:srgbClr val="1E293B"/>
                </a:solidFill>
                <a:latin typeface="Calibri"/>
              </a:rPr>
              <a:t>30-day bank payment deadline tracked manually in spreadsheets — risk of missing it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DC2626"/>
                </a:solidFill>
                <a:latin typeface="Calibri"/>
              </a:rPr>
              <a:t>● </a:t>
            </a:r>
            <a:r>
              <a:rPr sz="1550">
                <a:solidFill>
                  <a:srgbClr val="1E293B"/>
                </a:solidFill>
                <a:latin typeface="Calibri"/>
              </a:rPr>
              <a:t>No structured process for collecting post-execution documents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DC2626"/>
                </a:solidFill>
                <a:latin typeface="Calibri"/>
              </a:rPr>
              <a:t>● </a:t>
            </a:r>
            <a:r>
              <a:rPr sz="1550">
                <a:solidFill>
                  <a:srgbClr val="1E293B"/>
                </a:solidFill>
                <a:latin typeface="Calibri"/>
              </a:rPr>
              <a:t>Process questions during work → had to ask mentor directly (no instant answer)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961">
                <a:solidFill>
                  <a:srgbClr val="DC2626"/>
                </a:solidFill>
                <a:latin typeface="Calibri"/>
              </a:rPr>
              <a:t>● </a:t>
            </a:r>
            <a:r>
              <a:rPr sz="1550">
                <a:solidFill>
                  <a:srgbClr val="1E293B"/>
                </a:solidFill>
                <a:latin typeface="Calibri"/>
              </a:rPr>
              <a:t>Each team member's template version may differ — no consistency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All Features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Investment Pipeline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16736"/>
            <a:ext cx="1129284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Feature 1  —  Main Dashboard  &amp;  Action Center  —  Real-time deal overview  ·  Priority urgent items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1993392"/>
            <a:ext cx="1508760" cy="14630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04825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BEAFE"/>
                </a:solidFill>
                <a:latin typeface="Calibri"/>
              </a:rPr>
              <a:t>Feature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2860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Doc
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2862072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  <a:latin typeface="Calibri"/>
              </a:rPr>
              <a:t>Drag &amp; drop
AI classify
Drive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2523744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15184" y="1993392"/>
            <a:ext cx="1508760" cy="1463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204825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Calibri"/>
              </a:rPr>
              <a:t>Feature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2860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Due
Diligence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2862072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  <a:latin typeface="Calibri"/>
              </a:rPr>
              <a:t>13-point list
AI analysis
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523744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62272" y="1993392"/>
            <a:ext cx="1508760" cy="14630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04825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BEAFE"/>
                </a:solidFill>
                <a:latin typeface="Calibri"/>
              </a:rPr>
              <a:t>Feature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2860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Agreement
Drafting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862072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  <a:latin typeface="Calibri"/>
              </a:rPr>
              <a:t>RCPS 69 tokens
SAFE 40 tokens
.docx download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8" y="2523744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993392"/>
            <a:ext cx="1508760" cy="1463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04825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Calibri"/>
              </a:rPr>
              <a:t>Feature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2860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Execution
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862072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  <a:latin typeface="Calibri"/>
              </a:rPr>
              <a:t>Bank instruction
30-day deadline
Email draft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54696" y="2523744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6448" y="1993392"/>
            <a:ext cx="1508760" cy="14630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204825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BEAFE"/>
                </a:solidFill>
                <a:latin typeface="Calibri"/>
              </a:rPr>
              <a:t>Feature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22860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SAFE
Conversion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6" y="2862072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  <a:latin typeface="Calibri"/>
              </a:rPr>
              <a:t>Pre/During/Post
AI calculation
Deadline calc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1784" y="2523744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03536" y="1993392"/>
            <a:ext cx="150876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67544" y="22860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602736"/>
            <a:ext cx="1129284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6941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BEAFE"/>
                </a:solidFill>
                <a:latin typeface="Calibri"/>
              </a:rPr>
              <a:t>Deal Overview page — full 6-stage status summary on one screen  ·  direct links to each stage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24528"/>
            <a:ext cx="11292840" cy="530352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315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AI Process Assistant (floating chatbot, every page)   ·   Full KO/EN bilingual toggle   ·   Google OAuth login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846320"/>
            <a:ext cx="112928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9560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  <a:latin typeface="Calibri"/>
              </a:rPr>
              <a:t>11 total features: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4956048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Dashboard  ·  Action Center  ·  Deal Overview  ·  Doc Collection  ·  Diligence Checklist  ·  RCPS Agreement  ·  SAFE Agreement  ·  Exec Tracker  ·  SAFE Conversion  ·  AI Chatbot  ·  Bilingual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394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Google Gemini API  (gemini-flash-lite-latest)  —  file classification  ·  diligence analysis  ·  agreement suggestions  ·  number extraction  ·  conversion calc  ·  chatbot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806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Tech: Next.js 16  ·  React 19  ·  TypeScript  ·  Tailwind CSS v4  ·  Vercel  ·  Vercel Blob  ·  Google Drive API  ·  NextAuth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1  —  Main Dashboard &amp; Action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394960" cy="2377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Main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30552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4 KPI tiles:  Companies tracked  /  Docs ready  /  DD complete  /  Needs attention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Per-company progress bars for document collection and diligence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Click a deal → go directly to the Deal Overview page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Deal Overview:  one-screen summary of all 6 pipeline stages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13632"/>
            <a:ext cx="5394960" cy="2532888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50791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Action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  <a:latin typeface="Calibri"/>
              </a:rPr>
              <a:t>"What do I need to do right now?"  — Priority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480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36">
                <a:solidFill>
                  <a:srgbClr val="EA580C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Priority 1 — 30-day bank payment deadline  (hard cutoff, date highlighted)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EA580C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Priority 2 — Missing required documents  (deal name + missing docs list)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EA580C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Priority 3 — Outstanding diligence items  (deal name + item count)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1417320"/>
            <a:ext cx="5715000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3328" y="3611880"/>
            <a:ext cx="5715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64748B"/>
                </a:solidFill>
                <a:latin typeface="Calibri"/>
              </a:rPr>
              <a:t>[ Screenshot ]
Main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2  —  Document Collection, AI Classification &amp; 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서류 수집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Document Collection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0552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68">
                <a:solidFill>
                  <a:srgbClr val="3B82F6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Drag-and-drop file upload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Required document checklist per deal — auto-checks when file is uploaded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Auto-refreshes every 5 seconds (real-time polling)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Files stored privately on Vercel Blob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11880"/>
            <a:ext cx="4937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307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B82F6"/>
                </a:solidFill>
                <a:latin typeface="Calibri"/>
              </a:rPr>
              <a:t>AI Filename Auto-Classification  (Google Gemini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78808"/>
            <a:ext cx="5120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DBEAFE"/>
                </a:solidFill>
                <a:latin typeface="Calibri"/>
              </a:rPr>
              <a:t>When keyword matching fails, Gemini identifies the document type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DBEAFE"/>
                </a:solidFill>
                <a:latin typeface="Calibri"/>
              </a:rPr>
              <a:t>Example: 'final_v3.pdf'  →  auto-classified as certificate of registration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DBEAFE"/>
                </a:solidFill>
                <a:latin typeface="Calibri"/>
              </a:rPr>
              <a:t>Cost: ~$0.0002 / call  (~150 calls/year → ~$0.03/year)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38928"/>
            <a:ext cx="4937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B82F6"/>
                </a:solidFill>
                <a:latin typeface="Calibri"/>
              </a:rPr>
              <a:t>Google Drive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875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DBEAFE"/>
                </a:solidFill>
                <a:latin typeface="Calibri"/>
              </a:rPr>
              <a:t>One button click → deal folder auto-created and shared with @sparklabs.co.kr team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DBEAFE"/>
                </a:solidFill>
                <a:latin typeface="Calibri"/>
              </a:rPr>
              <a:t>Uploaded files automatically mirrored to the Drive folder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577840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61188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64748B"/>
                </a:solidFill>
                <a:latin typeface="Calibri"/>
              </a:rPr>
              <a:t>[ Screenshot ]
Document Collection Tab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3  —  Due Diligence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서류 실사 Tab — 13-Point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Due Diligence Checklist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  <a:latin typeface="Calibri"/>
              </a:rPr>
              <a:t>13-point checklist based on mentor's internal process document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32888"/>
            <a:ext cx="224028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BEAFE"/>
                </a:solidFill>
                <a:latin typeface="Calibri"/>
              </a:rPr>
              <a:t>Document Verification  (1–7)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44368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744">
                <a:solidFill>
                  <a:srgbClr val="3B82F6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Certificate of registration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744">
                <a:solidFill>
                  <a:srgbClr val="3B82F6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Business registration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744">
                <a:solidFill>
                  <a:srgbClr val="3B82F6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Shareholder register / share register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744">
                <a:solidFill>
                  <a:srgbClr val="3B82F6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Financial statements / bank balance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2532888"/>
            <a:ext cx="242316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560320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BEAFE"/>
                </a:solidFill>
                <a:latin typeface="Calibri"/>
              </a:rPr>
              <a:t>Process Steps  (8–13)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944368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744">
                <a:solidFill>
                  <a:srgbClr val="3B82F6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Confirm payment deposit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744">
                <a:solidFill>
                  <a:srgbClr val="3B82F6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Verify registry changes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744">
                <a:solidFill>
                  <a:srgbClr val="3B82F6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Follow-up procedures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744">
                <a:solidFill>
                  <a:srgbClr val="3B82F6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Final completion checks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51960"/>
            <a:ext cx="4937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708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Additional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82312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06">
                <a:solidFill>
                  <a:srgbClr val="DBEAFE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Per-item notes and comments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Per-item AI analysis (Gemini) — review point suggestions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Auto-check completed items and display overall progress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Completion status feeds back into the dashboard KPI tiles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417320"/>
            <a:ext cx="5577840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61188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64748B"/>
                </a:solidFill>
                <a:latin typeface="Calibri"/>
              </a:rPr>
              <a:t>[ Screenshot ]
Due Diligence Checklist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4  —  Investment Agreement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RCPS &amp; SAFE Auto-Generation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29184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RCPS 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84831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BEAFE"/>
                </a:solidFill>
                <a:latin typeface="Calibri"/>
              </a:rPr>
              <a:t>Redeemable Convertible Preferred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3063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69 blank fields — all filled automatically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5 sections
(Dates / Parties / Terms / Notices / Standard)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Signature block + Appendix 1 &amp; 2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SparkLabs standard defaults pre-filled
(dividend rate, redemption rate…)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3B82F6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One-click .docx download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760720"/>
            <a:ext cx="30175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8155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69 tokens → auto-completed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13632" y="1417320"/>
            <a:ext cx="3291840" cy="50292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50791" y="15544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SAFE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1" y="2084831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BEAFE"/>
                </a:solidFill>
                <a:latin typeface="Calibri"/>
              </a:rPr>
              <a:t>Simple Agreement for Future Equity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1" y="2514600"/>
            <a:ext cx="3063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06">
                <a:solidFill>
                  <a:srgbClr val="DBEAFE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40 blank fields — all filled automatically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8 sections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Valuation cap · discount rate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Interested party fills Appendix 1 &amp; 3 simultaneously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Standard clauses pre-filled
(12% penalty, 120% damages…)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06">
                <a:solidFill>
                  <a:srgbClr val="DBEAFE"/>
                </a:solidFill>
                <a:latin typeface="Calibri"/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One-click .docx download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50791" y="5760720"/>
            <a:ext cx="30175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96512" y="58155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40 tokens → auto-completed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88352" y="1417320"/>
            <a:ext cx="4361688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8352" y="3383280"/>
            <a:ext cx="436168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Calibri"/>
              </a:rPr>
              <a:t>[ Screenshot ]
Agreement Generator
(RCPS / SAFE)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5  —  Investment Execution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투자 집행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Investment Execution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  <a:latin typeface="Calibri"/>
              </a:rPr>
              <a:t>Track required steps after investment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68">
                <a:solidFill>
                  <a:srgbClr val="3B82F6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Bank payment instruction (운용지시) tracking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Post-payment document collection management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Custodian bank 30-day deadline — hard cutoff, highlighted prominently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Fund type:  Government-backed (모태)  vs  Private fund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Investment structure (method · amount · equity %) recorded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Email draft auto-generation (AI-assisted, for outgoing use)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3B82F6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Auto-save — data preserved when navigating away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989320"/>
            <a:ext cx="493776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016752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  Bank 30-day deadline — auto-surfaced at top of Action Center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5577840" cy="5029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A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361188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64748B"/>
                </a:solidFill>
                <a:latin typeface="Calibri"/>
              </a:rPr>
              <a:t>[ Screenshot ]
Investment Execution Tab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6  —  SAFE Conversion Tracker  +  AI Process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77840" cy="5074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SAFE Conversion Tracker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8483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  <a:latin typeface="Calibri"/>
              </a:rPr>
              <a:t>Step-by-step tracking of SAFE → equity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2120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3 stages:  Pre-conversion  ·  During conversion  ·  Post-conversion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Deadline auto-calculation and D-day countdown display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AI-assisted conversion share count calculation (Gemini)
  — based on investment principal · Valuation Cap · discount rate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Post-conversion registry change tracking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Step-by-step checklist with per-item completion display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486400" cy="50749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AI Process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8483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  <a:latin typeface="Calibri"/>
              </a:rPr>
              <a:t>Floating chatbot — bottom-right of every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14600"/>
            <a:ext cx="51206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36">
                <a:solidFill>
                  <a:srgbClr val="DBEAFE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Grounded in SparkLabs internal process documents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DBEAFE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Context-aware — knows which deal you're currently viewing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DBEAFE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Answers in both Korean and English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DBEAFE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AI field suggestions for agreements (Gemini)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DBEAFE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Auto-extracts execution-related numbers (Gemini)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DBEAFE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Instant process guidance — no need to interrupt the mentor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519672"/>
            <a:ext cx="1129284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BEAFE"/>
                </a:solidFill>
                <a:latin typeface="Calibri"/>
              </a:rPr>
              <a:t>Full KO/EN bilingual toggle — entire platform switches between Korean and English instantly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Tools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Two Different Roles — In the App vs. Building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5074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AI inside the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Google Gemini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  <a:latin typeface="Calibri"/>
              </a:rPr>
              <a:t>gemini-flash-lite-latest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Filename auto-classification  (Doc Collection tab)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Diligence AI analysis — per-item review point suggestions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Agreement field AI suggestions  (Agreement tab)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Execution number auto-extraction  (Execution tab)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SAFE conversion share count calculation  (Conversion tab)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36">
                <a:solidFill>
                  <a:srgbClr val="3B82F6"/>
                </a:solidFill>
                <a:latin typeface="Calibri"/>
              </a:rPr>
              <a:t>● </a:t>
            </a:r>
            <a:r>
              <a:rPr sz="1350">
                <a:solidFill>
                  <a:srgbClr val="FFFFFF"/>
                </a:solidFill>
                <a:latin typeface="Calibri"/>
              </a:rPr>
              <a:t>In-app chatbot assistant — process Q&amp;A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86400" cy="50749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BEAFE"/>
                </a:solidFill>
                <a:latin typeface="Calibri"/>
              </a:rPr>
              <a:t>AI used to build the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965960"/>
            <a:ext cx="5120640" cy="16916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756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Claude  (Anthropic)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3288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Code writing, debugging, feature design
Complex DOCX XML manipulation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3776472"/>
            <a:ext cx="5120640" cy="16916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886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Claude Code  (CLI tool)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3434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  <a:latin typeface="Calibri"/>
              </a:rPr>
              <a:t>AI coding assistant in the terminal
Made development possible with no prior coding experience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196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Full stack:   Next.js 16  ·  React 19  ·  TypeScript  ·  Tailwind CSS v4  ·  Vercel  ·  Vercel Blob  ·  Google Drive API  ·  Google Gemini API  ·  NextAuth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Google Gemini API —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How much does the AI actually cost?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383280" cy="5074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Model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gemini-flash-
lite-latest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BEAFE"/>
                </a:solidFill>
                <a:latin typeface="Calibri"/>
              </a:rPr>
              <a:t>Google's cheapest
current AI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57600"/>
            <a:ext cx="2834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Cost per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~$0.0002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  <a:latin typeface="Calibri"/>
              </a:rPr>
              <a:t>per API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852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13x cheaper than Claude Haiku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1417320"/>
            <a:ext cx="48463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57276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  <a:latin typeface="Calibri"/>
              </a:rPr>
              <a:t>Estimated annual usage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084831"/>
            <a:ext cx="466344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21945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Filename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945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~150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1945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Calibri"/>
              </a:rPr>
              <a:t>~$0.03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788919"/>
            <a:ext cx="4663440" cy="59436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89864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Diligence AI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898647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~50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89864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Calibri"/>
              </a:rPr>
              <a:t>~$0.01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493007"/>
            <a:ext cx="466344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3602735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Chatbot 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602735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~250 calls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602735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Calibri"/>
              </a:rPr>
              <a:t>~$0.05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4197096"/>
            <a:ext cx="466344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15968" y="43159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Annual 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3159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BEAFE"/>
                </a:solidFill>
                <a:latin typeface="Calibri"/>
              </a:rPr>
              <a:t>~450 calls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28853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3B82F6"/>
                </a:solidFill>
                <a:latin typeface="Calibri"/>
              </a:rPr>
              <a:t>~$0.09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50749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* At 10x usage: ~$0.90/year   *  At 100x usage: ~$9.00/year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54864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Free tier: up to 60 requests/minute at no charge
(current usage is comfortably within the free tier)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1417320"/>
            <a:ext cx="2606040" cy="5074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157276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Annual AI
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3317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$0.09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703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per year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4206240"/>
            <a:ext cx="21945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43434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Starbucks
Americano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50292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BF7D0"/>
                </a:solidFill>
                <a:latin typeface="Calibri"/>
              </a:rPr>
              <a:t>~$5.00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5669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 coffee &gt; 1 year of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Results &amp;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029200" cy="3429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2~3
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93008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per agreement
(manual input + review)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8C8"/>
                </a:solidFill>
                <a:latin typeface="Calibri"/>
              </a:rPr>
              <a:t>↓  Every blank filled by 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65176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463040"/>
            <a:ext cx="5989320" cy="3429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60020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084831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~3
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493008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per agreement
(fill form → download)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25196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FFC8"/>
                </a:solidFill>
                <a:latin typeface="Calibri"/>
              </a:rPr>
              <a:t>↓  69 fields auto-completed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47488"/>
            <a:ext cx="11292840" cy="438912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More:  auto bank deadline alerts  ·  centralized doc tracking  ·  structured diligence  ·  instant AI answers  ·  bilingual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96128"/>
            <a:ext cx="1129284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65099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Over 97% reduction in time per agreement  (2-3 hours → ~3 minutes)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Limitations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Calibri"/>
              </a:rP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68">
                <a:solidFill>
                  <a:srgbClr val="EA580C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Agreement template updates are manual
  (XML must be edited directly when legal clauses change)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EA580C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Multiple interested parties not yet supported (currently 1 per deal)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EA580C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Not fully optimized for mobile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EA580C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No e-signature — wet signatures still required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EA580C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No user permission levels — all team members see everything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EA580C"/>
                </a:solidFill>
                <a:latin typeface="Calibri"/>
              </a:rPr>
              <a:t>● </a:t>
            </a:r>
            <a:r>
              <a:rPr sz="1400">
                <a:solidFill>
                  <a:srgbClr val="FFFFFF"/>
                </a:solidFill>
                <a:latin typeface="Calibri"/>
              </a:rPr>
              <a:t>Diligence checklist item count is hard to adjust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532120" cy="5029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72768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  <a:latin typeface="Calibri"/>
              </a:rPr>
              <a:t>Planned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868">
                <a:solidFill>
                  <a:srgbClr val="1A56AA"/>
                </a:solidFill>
                <a:latin typeface="Calibri"/>
              </a:rPr>
              <a:t>● </a:t>
            </a:r>
            <a:r>
              <a:rPr sz="1400">
                <a:solidFill>
                  <a:srgbClr val="1E293B"/>
                </a:solidFill>
                <a:latin typeface="Calibri"/>
              </a:rPr>
              <a:t>Email notifications (contract sent / signed)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1A56AA"/>
                </a:solidFill>
                <a:latin typeface="Calibri"/>
              </a:rPr>
              <a:t>● </a:t>
            </a:r>
            <a:r>
              <a:rPr sz="1400">
                <a:solidFill>
                  <a:srgbClr val="1E293B"/>
                </a:solidFill>
                <a:latin typeface="Calibri"/>
              </a:rPr>
              <a:t>E-signature integration  (e.g. DocuSign)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1A56AA"/>
                </a:solidFill>
                <a:latin typeface="Calibri"/>
              </a:rPr>
              <a:t>● </a:t>
            </a:r>
            <a:r>
              <a:rPr sz="1400">
                <a:solidFill>
                  <a:srgbClr val="1E293B"/>
                </a:solidFill>
                <a:latin typeface="Calibri"/>
              </a:rPr>
              <a:t>AI-powered contract clause review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1A56AA"/>
                </a:solidFill>
                <a:latin typeface="Calibri"/>
              </a:rPr>
              <a:t>● </a:t>
            </a:r>
            <a:r>
              <a:rPr sz="1400">
                <a:solidFill>
                  <a:srgbClr val="1E293B"/>
                </a:solidFill>
                <a:latin typeface="Calibri"/>
              </a:rPr>
              <a:t>Fund-level investment statistics dashboard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1A56AA"/>
                </a:solidFill>
                <a:latin typeface="Calibri"/>
              </a:rPr>
              <a:t>● </a:t>
            </a:r>
            <a:r>
              <a:rPr sz="1400">
                <a:solidFill>
                  <a:srgbClr val="1E293B"/>
                </a:solidFill>
                <a:latin typeface="Calibri"/>
              </a:rPr>
              <a:t>Multiple interested party support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1A56AA"/>
                </a:solidFill>
                <a:latin typeface="Calibri"/>
              </a:rPr>
              <a:t>● </a:t>
            </a:r>
            <a:r>
              <a:rPr sz="1400">
                <a:solidFill>
                  <a:srgbClr val="1E293B"/>
                </a:solidFill>
                <a:latin typeface="Calibri"/>
              </a:rPr>
              <a:t>Contract version control (track revision history)</a:t>
            </a:r>
          </a:p>
          <a:p>
            <a:pPr>
              <a:lnSpc>
                <a:spcPct val="120000"/>
              </a:lnSpc>
              <a:spcBef>
                <a:spcPts val="100"/>
              </a:spcBef>
            </a:pPr>
            <a:r>
              <a:rPr sz="868">
                <a:solidFill>
                  <a:srgbClr val="1A56AA"/>
                </a:solidFill>
                <a:latin typeface="Calibri"/>
              </a:rPr>
              <a:t>● </a:t>
            </a:r>
            <a:r>
              <a:rPr sz="1400">
                <a:solidFill>
                  <a:srgbClr val="1E293B"/>
                </a:solidFill>
                <a:latin typeface="Calibri"/>
              </a:rPr>
              <a:t>Admin UI for template editing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9300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BEAFE"/>
                </a:solidFill>
                <a:latin typeface="Calibri"/>
              </a:rPr>
              <a:t>Live Demonstration of the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370832"/>
            <a:ext cx="58064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9028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BEAFE"/>
                </a:solidFill>
                <a:latin typeface="Calibri"/>
              </a:rPr>
              <a:t>Demonstrating the actual site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76672"/>
            <a:ext cx="11292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Dashboard view     ·     Document Collection tab     ·     Agreement drafting &amp; download     ·     AI chatbot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