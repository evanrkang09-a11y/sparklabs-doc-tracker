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246888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53035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SparkLabs Korea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Malgun Gothic"/>
              </a:rPr>
              <a:t>서류 추적기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DBEAFE"/>
                </a:solidFill>
                <a:latin typeface="Malgun Gothic"/>
              </a:rPr>
              <a:t>AI 기반 투자 운용 자동화 플랫폼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29000"/>
            <a:ext cx="45720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611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BEAFE"/>
                </a:solidFill>
                <a:latin typeface="Malgun Gothic"/>
              </a:rPr>
              <a:t>2026년 8월  |  AI Agent 인턴십 최종 발표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297680"/>
            <a:ext cx="5943600" cy="658368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425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Malgun Gothic"/>
              </a:rPr>
              <a:t>11가지 기능   ·   Google Gemini API   ·   Next.js 16   ·   Vercel 배포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9164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73736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웹사이트 소개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55448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169164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73736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기존 업무의 문제점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88036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92608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전체 기능 개요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74320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88036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292608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주요 기능 상세  (6가지)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6908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11480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활용한 AI 도구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393192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406908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411480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Gemini API 비용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2064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25780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530352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성과 및 개선 사항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12064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525780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530352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한계점 · 향후 과제 · 라이브 데모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웹사이트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SparkLabs 서류 추적기란?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9494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  <a:latin typeface="Malgun Gothic"/>
              </a:rPr>
              <a:t>SparkLabs 투자팀을 위한
All-in-One 내부 웹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6492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961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1E293B"/>
                </a:solidFill>
                <a:latin typeface="Malgun Gothic"/>
              </a:rPr>
              <a:t>투자 파이프라인 전 과정 자동화  (서류 수집 → 실사 → 계약 → 집행 → 전환)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1E293B"/>
                </a:solidFill>
                <a:latin typeface="Malgun Gothic"/>
              </a:rPr>
              <a:t>RCPS / SAFE 계약서 자동 생성  (원클릭 .docx 다운로드)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1E293B"/>
                </a:solidFill>
                <a:latin typeface="Malgun Gothic"/>
              </a:rPr>
              <a:t>Google Drive 연동 — 딜별 폴더 자동 생성 및 @sparklabs.co.kr 팀 공유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1E293B"/>
                </a:solidFill>
                <a:latin typeface="Malgun Gothic"/>
              </a:rPr>
              <a:t>Google Gemini AI — 파일 분류 · 실사 분석 · 챗봇 · 집행 추출 · 전환 계산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1E293B"/>
                </a:solidFill>
                <a:latin typeface="Malgun Gothic"/>
              </a:rPr>
              <a:t>한/영 이중 언어 지원  |  Google OAuth 로그인  |  다중 펀드 지원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1E293B"/>
                </a:solidFill>
                <a:latin typeface="Malgun Gothic"/>
              </a:rPr>
              <a:t>Vercel 배포 — 어디서든 접속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417320"/>
            <a:ext cx="4069080" cy="2514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554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Malgun Gothic"/>
              </a:rPr>
              <a:t>Tech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084831"/>
            <a:ext cx="3749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06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Next.js 16  ·  React 19  ·  TypeScript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Tailwind CSS v4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Vercel  ·  Vercel Blob (파일 저장)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Google Drive API  ·  Google Gemini API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NextAuth (Google OAuth 로그인)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4069080"/>
            <a:ext cx="4069080" cy="23774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20624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  <a:latin typeface="Malgun Gothic"/>
              </a:rPr>
              <a:t>배포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64515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6AA"/>
                </a:solidFill>
                <a:latin typeface="Malgun Gothic"/>
              </a:rPr>
              <a:t>sparklabs-doc-tracker.vercel.app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12064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Google 계정 로그인 필수
(@sparklabs.co.kr 내부 전용)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기존 업무의 문제점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Before — What Made Investment Operations Painful?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29184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BEAFE"/>
                </a:solidFill>
                <a:latin typeface="Malgun Gothic"/>
              </a:rPr>
              <a:t>계약서 1건당
소요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Malgun Gothic"/>
              </a:rPr>
              <a:t>2~3
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43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Malgun Gothic"/>
              </a:rPr>
              <a:t>담당자 수동 작업 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417320"/>
            <a:ext cx="7726679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57276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  <a:latin typeface="Malgun Gothic"/>
              </a:rPr>
              <a:t>개발 전 주요 문제점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10312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961">
                <a:solidFill>
                  <a:srgbClr val="DC2626"/>
                </a:solidFill>
                <a:latin typeface="Malgun Gothic"/>
              </a:rPr>
              <a:t>● </a:t>
            </a:r>
            <a:r>
              <a:rPr sz="1550">
                <a:solidFill>
                  <a:srgbClr val="1E293B"/>
                </a:solidFill>
                <a:latin typeface="Malgun Gothic"/>
              </a:rPr>
              <a:t>계약서 빈칸을 수동으로 하나하나 입력 — 동일한 정보를 수십 번 반복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DC2626"/>
                </a:solidFill>
                <a:latin typeface="Malgun Gothic"/>
              </a:rPr>
              <a:t>● </a:t>
            </a:r>
            <a:r>
              <a:rPr sz="1550">
                <a:solidFill>
                  <a:srgbClr val="1E293B"/>
                </a:solidFill>
                <a:latin typeface="Malgun Gothic"/>
              </a:rPr>
              <a:t>서류가 이메일 · 폴더 · Drive에 분산 — 중앙 추적 시스템 없음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DC2626"/>
                </a:solidFill>
                <a:latin typeface="Malgun Gothic"/>
              </a:rPr>
              <a:t>● </a:t>
            </a:r>
            <a:r>
              <a:rPr sz="1550">
                <a:solidFill>
                  <a:srgbClr val="1E293B"/>
                </a:solidFill>
                <a:latin typeface="Malgun Gothic"/>
              </a:rPr>
              <a:t>구조화된 실사 체크리스트 없음 — 항목별 완료 여부 추적 불가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DC2626"/>
                </a:solidFill>
                <a:latin typeface="Malgun Gothic"/>
              </a:rPr>
              <a:t>● </a:t>
            </a:r>
            <a:r>
              <a:rPr sz="1550">
                <a:solidFill>
                  <a:srgbClr val="1E293B"/>
                </a:solidFill>
                <a:latin typeface="Malgun Gothic"/>
              </a:rPr>
              <a:t>은행 30일 결제 마감 — 스프레드시트로 수동 관리, 누락 위험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DC2626"/>
                </a:solidFill>
                <a:latin typeface="Malgun Gothic"/>
              </a:rPr>
              <a:t>● </a:t>
            </a:r>
            <a:r>
              <a:rPr sz="1550">
                <a:solidFill>
                  <a:srgbClr val="1E293B"/>
                </a:solidFill>
                <a:latin typeface="Malgun Gothic"/>
              </a:rPr>
              <a:t>투자 집행 후 후속 서류 수집 프로세스가 비체계적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DC2626"/>
                </a:solidFill>
                <a:latin typeface="Malgun Gothic"/>
              </a:rPr>
              <a:t>● </a:t>
            </a:r>
            <a:r>
              <a:rPr sz="1550">
                <a:solidFill>
                  <a:srgbClr val="1E293B"/>
                </a:solidFill>
                <a:latin typeface="Malgun Gothic"/>
              </a:rPr>
              <a:t>업무 중 프로세스 질문 → 멘토 직접 문의 필요 (즉시 답변 불가)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DC2626"/>
                </a:solidFill>
                <a:latin typeface="Malgun Gothic"/>
              </a:rPr>
              <a:t>● </a:t>
            </a:r>
            <a:r>
              <a:rPr sz="1550">
                <a:solidFill>
                  <a:srgbClr val="1E293B"/>
                </a:solidFill>
                <a:latin typeface="Malgun Gothic"/>
              </a:rPr>
              <a:t>팀원마다 템플릿 버전 달라 일관성 부재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전체 기능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All Features — Investment Pipeline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16736"/>
            <a:ext cx="1129284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Malgun Gothic"/>
              </a:rPr>
              <a:t>기능 ①  🏠 메인 대시보드  &amp;  📋 액션 센터  —  전체 딜 현황 실시간 조회  ·  긴급 항목 우선순위 안내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1993392"/>
            <a:ext cx="1508760" cy="14630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204825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BEAFE"/>
                </a:solidFill>
                <a:latin typeface="Malgun Gothic"/>
              </a:rPr>
              <a:t>기능 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2860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Malgun Gothic"/>
              </a:rPr>
              <a:t>서류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2862072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  <a:latin typeface="Malgun Gothic"/>
              </a:rPr>
              <a:t>드래그&amp;드롭
AI 분류
Drive 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2523744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B82F6"/>
                </a:solidFill>
                <a:latin typeface="Malgun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15184" y="1993392"/>
            <a:ext cx="1508760" cy="1463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204825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Malgun Gothic"/>
              </a:rPr>
              <a:t>기능 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2860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Malgun Gothic"/>
              </a:rPr>
              <a:t>서류 실사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2862072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  <a:latin typeface="Malgun Gothic"/>
              </a:rPr>
              <a:t>13항목
AI 분석
코멘트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523744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B82F6"/>
                </a:solidFill>
                <a:latin typeface="Malgun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62272" y="1993392"/>
            <a:ext cx="1508760" cy="14630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04825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BEAFE"/>
                </a:solidFill>
                <a:latin typeface="Malgun Gothic"/>
              </a:rPr>
              <a:t>기능 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2860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Malgun Gothic"/>
              </a:rPr>
              <a:t>계약서 작성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862072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  <a:latin typeface="Malgun Gothic"/>
              </a:rPr>
              <a:t>RCPS 69토큰
SAFE 40토큰
.docx 다운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8" y="2523744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B82F6"/>
                </a:solidFill>
                <a:latin typeface="Malgun Gothi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993392"/>
            <a:ext cx="1508760" cy="1463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204825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Malgun Gothic"/>
              </a:rPr>
              <a:t>기능 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2860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Malgun Gothic"/>
              </a:rPr>
              <a:t>투자 집행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862072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  <a:latin typeface="Malgun Gothic"/>
              </a:rPr>
              <a:t>운용지시
30일 마감
이메일 초안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54696" y="2523744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B82F6"/>
                </a:solidFill>
                <a:latin typeface="Malgun 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6448" y="1993392"/>
            <a:ext cx="1508760" cy="14630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456" y="204825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BEAFE"/>
                </a:solidFill>
                <a:latin typeface="Malgun Gothic"/>
              </a:rPr>
              <a:t>기능 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22860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Malgun Gothic"/>
              </a:rPr>
              <a:t>SAFE 전환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6" y="2862072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  <a:latin typeface="Malgun Gothic"/>
              </a:rPr>
              <a:t>전환 추적
AI 계산
마감일 표시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1784" y="2523744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B82F6"/>
                </a:solidFill>
                <a:latin typeface="Malgun Gothic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03536" y="1993392"/>
            <a:ext cx="150876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67544" y="22860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Malgun Gothic"/>
              </a:rPr>
              <a:t>완료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602736"/>
            <a:ext cx="1129284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6941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BEAFE"/>
                </a:solidFill>
                <a:latin typeface="Malgun Gothic"/>
              </a:rPr>
              <a:t>🌐  딜 개요 페이지  —  전체 6단계 진행 상황을 한 화면에서 조회  ·  단계별 링크 바로가기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24528"/>
            <a:ext cx="11292840" cy="530352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315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algun Gothic"/>
              </a:rPr>
              <a:t>🤖  AI 프로세스 어시스턴트 (모든 페이지 우하단 플로팅)   ·   🌐  한/영 이중 언어 전체 지원   ·   🔐  Google OAuth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846320"/>
            <a:ext cx="112928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9560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  <a:latin typeface="Malgun Gothic"/>
              </a:rPr>
              <a:t>총 11가지 기능: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4956048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algun Gothic"/>
              </a:rPr>
              <a:t>대시보드  ·  액션 센터  ·  딜 개요  ·  서류 수집  ·  실사 체크리스트  ·  RCPS 계약서  ·  SAFE 계약서  ·  투자 집행  ·  SAFE 전환  ·  AI 챗봇  ·  이중 언어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394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Malgun Gothic"/>
              </a:rPr>
              <a:t>Google Gemini API  (gemini-flash-lite-latest)  —  파일 분류  ·  실사 분석  ·  계약서 필드 제안  ·  집행 번호 추출  ·  전환 계산  ·  챗봇 어시스턴트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806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Malgun Gothic"/>
              </a:rPr>
              <a:t>Tech: Next.js 16  ·  React 19  ·  TypeScript  ·  Tailwind CSS v4  ·  Vercel  ·  Vercel Blob  ·  Google Drive API  ·  NextAuth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기능 ①  메인 대시보드 &amp; 액션 센터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Main Dashboard &amp; Action Center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94960" cy="2377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🏠  메인 대시보드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30552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36">
                <a:solidFill>
                  <a:srgbClr val="3B82F6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4개 KPI 타일:  추적 중인 회사 수  /  서류 준비 완료  /  DD 완료  /  주의 필요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회사별 서류 수집 · 실사 진행률 바 (progress bar)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딜 클릭 시 딜 개요 페이지로 바로 이동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딜 개요:  6단계 전체 진행 상황 한 화면 요약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13632"/>
            <a:ext cx="5394960" cy="2532888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📋  액션 센터 (Action Center)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  <a:latin typeface="Malgun Gothic"/>
              </a:rPr>
              <a:t>"지금 당장 뭘 해야 하나?"  우선순위 패널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36">
                <a:solidFill>
                  <a:srgbClr val="EA580C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① 은행 30일 결제 마감  (하드 컷오프, 날짜 강조 표시)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EA580C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② 필수 서류 미제출 항목  (딜명 + 미제출 서류 목록)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EA580C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③ 미완료 실사 체크 항목  (딜명 + 미완료 항목 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1417320"/>
            <a:ext cx="5715000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3611880"/>
            <a:ext cx="5715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64748B"/>
                </a:solidFill>
                <a:latin typeface="Malgun Gothic"/>
              </a:rPr>
              <a:t>[ 화면 캡처 ]
메인 대시보드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기능 ②  서류 수집 &amp; AI 분류 &amp; Drive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Document Collection, AI Classification &amp; Google Drive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📂  서류 수집 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30552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68">
                <a:solidFill>
                  <a:srgbClr val="3B82F6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드래그&amp;드롭 파일 업로드 (drag-and-drop)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딜별 필수 서류 체크리스트 — 업로드 시 자동 체크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5초마다 자동 새로고침 (auto-poll, 실시간 반영)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Vercel Blob에 비공개 안전 저장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11880"/>
            <a:ext cx="4937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307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B82F6"/>
                </a:solidFill>
                <a:latin typeface="Malgun Gothic"/>
              </a:rPr>
              <a:t>🤖  AI 파일명 자동 분류  (Google Gemini 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78808"/>
            <a:ext cx="5120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06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DBEAFE"/>
                </a:solidFill>
                <a:latin typeface="Malgun Gothic"/>
              </a:rPr>
              <a:t>키워드 매처가 인식 못 하는 파일명 → Gemini가 문서 종류 판별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DBEAFE"/>
                </a:solidFill>
                <a:latin typeface="Malgun Gothic"/>
              </a:rPr>
              <a:t>예: '최종본_v3.pdf'  →  등기부등본으로 자동 분류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DBEAFE"/>
                </a:solidFill>
                <a:latin typeface="Malgun Gothic"/>
              </a:rPr>
              <a:t>비용: ~$0.0002 / 호출  (연간 ~150 calls → ~$0.03)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38928"/>
            <a:ext cx="4937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B82F6"/>
                </a:solidFill>
                <a:latin typeface="Malgun Gothic"/>
              </a:rPr>
              <a:t>🗂️  Google Drive 연동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875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06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DBEAFE"/>
                </a:solidFill>
                <a:latin typeface="Malgun Gothic"/>
              </a:rPr>
              <a:t>버튼 1회 클릭 → 딜별 폴더 자동 생성 + @sparklabs.co.kr 팀 공유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DBEAFE"/>
                </a:solidFill>
                <a:latin typeface="Malgun Gothic"/>
              </a:rPr>
              <a:t>업로드한 파일은 Drive 폴더에 자동 미러링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577840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61188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64748B"/>
                </a:solidFill>
                <a:latin typeface="Malgun Gothic"/>
              </a:rPr>
              <a:t>[ 화면 캡처 ]
서류 수집 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기능 ③  서류 실사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Due Diligence Checklist — 13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📋  서류 실사 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  <a:latin typeface="Malgun Gothic"/>
              </a:rPr>
              <a:t>멘토 내부 문서 기반  13항목 체크리스트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32888"/>
            <a:ext cx="224028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BEAFE"/>
                </a:solidFill>
                <a:latin typeface="Malgun Gothic"/>
              </a:rPr>
              <a:t>서류 검증  (1~7번)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44368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744">
                <a:solidFill>
                  <a:srgbClr val="3B82F6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등기부등본 / 사업자등록증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744">
                <a:solidFill>
                  <a:srgbClr val="3B82F6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주주명부 / 주식명세서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744">
                <a:solidFill>
                  <a:srgbClr val="3B82F6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재무제표 / 은행 잔고증명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744">
                <a:solidFill>
                  <a:srgbClr val="3B82F6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기타 필수 서류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2532888"/>
            <a:ext cx="242316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560320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BEAFE"/>
                </a:solidFill>
                <a:latin typeface="Malgun Gothic"/>
              </a:rPr>
              <a:t>프로세스 절차  (8~13번)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944368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744">
                <a:solidFill>
                  <a:srgbClr val="3B82F6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주금 납입 확인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744">
                <a:solidFill>
                  <a:srgbClr val="3B82F6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등기 변경 여부 확인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744">
                <a:solidFill>
                  <a:srgbClr val="3B82F6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후속 조치 절차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744">
                <a:solidFill>
                  <a:srgbClr val="3B82F6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최종 완료 확인 사항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51960"/>
            <a:ext cx="4937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708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Malgun Gothic"/>
              </a:rPr>
              <a:t>추가 기능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82312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06">
                <a:solidFill>
                  <a:srgbClr val="DBEAFE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항목별 메모 · 코멘트 직접 입력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항목별 AI 분석 (Gemini) — 검토 포인트 제안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완료 항목 자동 체크 및 전체 진행률 표시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완료된 실사 현황이 대시보드 KPI에 반영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417320"/>
            <a:ext cx="5577840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61188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64748B"/>
                </a:solidFill>
                <a:latin typeface="Malgun Gothic"/>
              </a:rPr>
              <a:t>[ 화면 캡처 ]
서류 실사 체크리스트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기능 ④  투자 계약서 자동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Investment Agreement Generator — RCPS &amp; 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29184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📄  RCPS 계약서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84831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DBEAFE"/>
                </a:solidFill>
                <a:latin typeface="Malgun Gothic"/>
              </a:rPr>
              <a:t>상환전환우선주 투자계약서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3063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06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69개 빈칸 자동 채우기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5개 섹션 구성
(날짜/당사자/조건/통지/표준)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서명란 · 별지1 · 별지2 포함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표준 조항 기본값 내장
(배당률, 상환이율 등)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원클릭 .docx 다운로드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760720"/>
            <a:ext cx="30175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8155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69 토큰 → 전체 자동 완성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13632" y="1417320"/>
            <a:ext cx="3291840" cy="50292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50791" y="15544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📄  SAFE 계약서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1" y="2084831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DBEAFE"/>
                </a:solidFill>
                <a:latin typeface="Malgun Gothic"/>
              </a:rPr>
              <a:t>조건부지분인수계약서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1" y="2514600"/>
            <a:ext cx="3063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06">
                <a:solidFill>
                  <a:srgbClr val="DBEAFE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40개 빈칸 자동 채우기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8개 섹션 구성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Valuation Cap · 할인율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별지1 · 별지3 동시 반영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표준 조항 기본값 내장
(위약벌 12%, 손배 120%)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원클릭 .docx 다운로드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50791" y="5760720"/>
            <a:ext cx="30175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96512" y="58155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40 토큰 → 전체 자동 완성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88352" y="1417320"/>
            <a:ext cx="4361688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8352" y="3383280"/>
            <a:ext cx="436168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Malgun Gothic"/>
              </a:rPr>
              <a:t>[ 화면 캡처 ]
계약서 작성 탭
(RCPS / SAFE)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기능 ⑤  투자 집행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Investment Execution Tracker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💼  투자 집행 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  <a:latin typeface="Malgun Gothic"/>
              </a:rPr>
              <a:t>투자 집행 후 필수 절차를 단계별로 추적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68">
                <a:solidFill>
                  <a:srgbClr val="3B82F6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운용지시 (bank payment instruction) 발송 및 추적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주금 납입 후 후속 서류 수집 진행 관리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수탁 은행 30일 결제 마감 — 하드 컷오프, 강조 표시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펀드 구분:  모태펀드  vs  일반 사모펀드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투자 구조 (투자 방식 · 금액 · 지분율) 기록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이메일 초안 자동 생성 (AI 보조, 담당자 발송용)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자동 저장 — 페이지 이탈 시 데이터 보존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989320"/>
            <a:ext cx="493776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016752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⚠  은행 30일 마감 — 액션 센터에서 자동으로 최상위 노출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5577840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361188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64748B"/>
                </a:solidFill>
                <a:latin typeface="Malgun Gothic"/>
              </a:rPr>
              <a:t>[ 화면 캡처 ]
투자 집행 추적 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기능 ⑥  SAFE 전환 추적  +  AI 챗봇 어시스턴트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SAFE Conversion Tracker &amp; AI Process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77840" cy="5074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🔄  SAFE 전환 추적 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  <a:latin typeface="Malgun Gothic"/>
              </a:rPr>
              <a:t>SAFE → 주식 전환 프로세스 단계별 추적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2120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36">
                <a:solidFill>
                  <a:srgbClr val="3B82F6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전환 전 (Pre) · 전환 중 (During) · 전환 후 (Post) 3단계 구분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마감일 자동 계산 및 D-day 표시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AI 보조 전환 주식 수 계산 (Gemini)
  — 투자 원금 · Valuation Cap · 할인율 기반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전환 완료 후 등기 변경 사항 추적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전환 프로세스 체크리스트 단계별 완료 표시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86400" cy="50749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🤖  AI 프로세스 어시스턴트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8483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  <a:latin typeface="Malgun Gothic"/>
              </a:rPr>
              <a:t>모든 페이지 우하단 — 플로팅 챗봇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51206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36">
                <a:solidFill>
                  <a:srgbClr val="DBEAFE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스파크랩 내부 프로세스 문서 기반으로 학습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DBEAFE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현재 조회 중인 딜 정보 맥락 인식 (context-aware)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DBEAFE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한국어 · 영어 모두 답변 가능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DBEAFE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계약서 필드 입력 AI 제안 (Gemini)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DBEAFE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집행 관련 번호 자동 추출 (Gemini)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DBEAFE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멘토에게 묻지 않고 업무 중 즉시 가이드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519672"/>
            <a:ext cx="1129284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BEAFE"/>
                </a:solidFill>
                <a:latin typeface="Malgun Gothic"/>
              </a:rPr>
              <a:t>🌐  한/영 이중 언어 — 플랫폼 전체 언어 토글 지원  |  UI 전체 한국어/영어 전환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활용한 AI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AI Tools — Two Different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77840" cy="5074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Malgun Gothic"/>
              </a:rPr>
              <a:t>앱 내부에서 사용한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Google Gemini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  <a:latin typeface="Malgun Gothic"/>
              </a:rPr>
              <a:t>gemini-flash-lite-latest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36">
                <a:solidFill>
                  <a:srgbClr val="3B82F6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파일명 자동 분류  (서류 수집 탭)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서류 실사 AI 분석 — 항목별 검토 포인트 제안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계약서 필드 AI 제안  (계약서 탭)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집행 관련 번호 자동 추출  (투자 집행 탭)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SAFE 전환 주식 수 계산 보조  (전환 추적 탭)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Malgun Gothic"/>
              </a:rPr>
              <a:t>● </a:t>
            </a:r>
            <a:r>
              <a:rPr sz="1350">
                <a:solidFill>
                  <a:srgbClr val="FFFFFF"/>
                </a:solidFill>
                <a:latin typeface="Malgun Gothic"/>
              </a:rPr>
              <a:t>인앱 챗봇 어시스턴트 — 프로세스 Q&amp;A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86400" cy="50749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BEAFE"/>
                </a:solidFill>
                <a:latin typeface="Malgun Gothic"/>
              </a:rPr>
              <a:t>개발에 활용한 AI 도구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965960"/>
            <a:ext cx="5120640" cy="16916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756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Claude  (Anthropic)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3288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Malgun Gothic"/>
              </a:rPr>
              <a:t>코드 작성, 디버깅, 기능 설계
DOCX XML 조작 등 복잡한 로직 구현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3776472"/>
            <a:ext cx="5120640" cy="16916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886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Claude Code  (CLI 도구)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3434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Malgun Gothic"/>
              </a:rPr>
              <a:t>터미널에서 파일 읽기 · 편집 · 실행
프로그래밍 경험 없이 개발 가능하게 해줌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196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Malgun Gothic"/>
              </a:rPr>
              <a:t>전체 스택:   Next.js 16  ·  React 19  ·  TypeScript  ·  Tailwind CSS v4  ·  Vercel  ·  Vercel Blob  ·  Google Drive API  ·  Google Gemini API  ·  NextAuth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Google Gemini API — 비용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How Much Does the AI Actually Cost?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383280" cy="5074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Malgun Gothic"/>
              </a:rPr>
              <a:t>사용 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gemini-flash-
lite-latest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E"/>
                </a:solidFill>
                <a:latin typeface="Malgun Gothic"/>
              </a:rPr>
              <a:t>Google의 가장 저렴한
최신 AI 모델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57600"/>
            <a:ext cx="2834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Malgun Gothic"/>
              </a:rPr>
              <a:t>호출당 비용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~$0.0002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  <a:latin typeface="Malgun Gothic"/>
              </a:rPr>
              <a:t>per API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852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algun Gothic"/>
              </a:rPr>
              <a:t>Claude Haiku보다 13배 저렴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1417320"/>
            <a:ext cx="48463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57276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  <a:latin typeface="Malgun Gothic"/>
              </a:rPr>
              <a:t>연간 예상 사용량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084831"/>
            <a:ext cx="466344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21945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algun Gothic"/>
              </a:rPr>
              <a:t>파일명 자동 분류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945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Malgun Gothic"/>
              </a:rPr>
              <a:t>~150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1945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Malgun Gothic"/>
              </a:rPr>
              <a:t>~$0.03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788919"/>
            <a:ext cx="4663440" cy="5943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89864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algun Gothic"/>
              </a:rPr>
              <a:t>실사 AI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898647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Malgun Gothic"/>
              </a:rPr>
              <a:t>~50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89864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Malgun Gothic"/>
              </a:rPr>
              <a:t>~$0.01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493007"/>
            <a:ext cx="466344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3602735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algun Gothic"/>
              </a:rPr>
              <a:t>챗봇 어시스턴트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602735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Malgun Gothic"/>
              </a:rPr>
              <a:t>~250 calls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602735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Malgun Gothic"/>
              </a:rPr>
              <a:t>~$0.05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4197096"/>
            <a:ext cx="466344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15968" y="43159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연간 합계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3159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BEAFE"/>
                </a:solidFill>
                <a:latin typeface="Malgun Gothic"/>
              </a:rPr>
              <a:t>~450 calls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28853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3B82F6"/>
                </a:solidFill>
                <a:latin typeface="Malgun Gothic"/>
              </a:rPr>
              <a:t>~$0.09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50749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Malgun Gothic"/>
              </a:rPr>
              <a:t>* 10배 사용:  ~$0.90/year   *  100배 사용:  ~$9.00/year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54864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algun Gothic"/>
              </a:rPr>
              <a:t>무료 티어: 분당 60회 요청 무료
(현재 사용량 기준 무료 범위 안에 해당)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1417320"/>
            <a:ext cx="2606040" cy="5074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157276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algun Gothic"/>
              </a:rPr>
              <a:t>연간 AI
사용료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3317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algun Gothic"/>
              </a:rPr>
              <a:t>$0.09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703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Malgun Gothic"/>
              </a:rPr>
              <a:t>per year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4206240"/>
            <a:ext cx="21945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43434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algun Gothic"/>
              </a:rPr>
              <a:t>스타벅스
아메리카노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50292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BF7D0"/>
                </a:solidFill>
                <a:latin typeface="Malgun Gothic"/>
              </a:rPr>
              <a:t>~$5.00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5669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커피 한 잔 &gt; AI 1년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성과 및 개선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Results &amp;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029200" cy="3429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Malgun Gothic"/>
              </a:rPr>
              <a:t>이전 (Before)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84831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Malgun Gothic"/>
              </a:rPr>
              <a:t>2~3
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93008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algun Gothic"/>
              </a:rPr>
              <a:t>계약서 1건 작성 기준
(수동 입력 + 검토)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8C8"/>
                </a:solidFill>
                <a:latin typeface="Malgun Gothic"/>
              </a:rPr>
              <a:t>↓  담당자가 모든 빈칸 수동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5176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3B82F6"/>
                </a:solidFill>
                <a:latin typeface="Malgun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63040"/>
            <a:ext cx="5989320" cy="3429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60020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Malgun Gothic"/>
              </a:rPr>
              <a:t>현재 (After)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084831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Malgun Gothic"/>
              </a:rPr>
              <a:t>~3분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493008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algun Gothic"/>
              </a:rPr>
              <a:t>계약서 1건 작성 기준
(정보 입력 후 즉시 다운로드)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25196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FFC8"/>
                </a:solidFill>
                <a:latin typeface="Malgun Gothic"/>
              </a:rPr>
              <a:t>↓  69개 빈칸 전체 자동 완성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47488"/>
            <a:ext cx="11292840" cy="438912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Malgun Gothic"/>
              </a:rPr>
              <a:t>추가 성과:  은행 마감 자동 알림  ·  서류 중앙 추적  ·  실사 체계화  ·  AI 즉시 답변  ·  이중 언어 지원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596128"/>
            <a:ext cx="1129284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5099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algun Gothic"/>
              </a:rPr>
              <a:t>약 97% 이상 시간 단축  (2~3시간 → ~3분)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한계점 및 향후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Current Limitations &amp; Future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A580C"/>
                </a:solidFill>
                <a:latin typeface="Malgun Gothic"/>
              </a:rPr>
              <a:t>⚠️  현재 한계점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68">
                <a:solidFill>
                  <a:srgbClr val="EA580C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계약서 템플릿 업데이트 수동
  (법적 조항 변경 시 XML 직접 수정)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EA580C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다수의 이해관계인 처리 미구현 (현재 1명만 지원)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EA580C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모바일 최적화 미완성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EA580C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전자서명 기능 없음 (현재 습식 서명 필요)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EA580C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사용자 권한 관리 없음 (팀원 전체 동일 권한)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EA580C"/>
                </a:solidFill>
                <a:latin typeface="Malgun Gothic"/>
              </a:rPr>
              <a:t>● </a:t>
            </a:r>
            <a:r>
              <a:rPr sz="1400">
                <a:solidFill>
                  <a:srgbClr val="FFFFFF"/>
                </a:solidFill>
                <a:latin typeface="Malgun Gothic"/>
              </a:rPr>
              <a:t>실사 체크리스트 항목 수 조정 어려움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5532120" cy="5029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72768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  <a:latin typeface="Malgun Gothic"/>
              </a:rPr>
              <a:t>🚀  앞으로 추가할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68">
                <a:solidFill>
                  <a:srgbClr val="1A56AA"/>
                </a:solidFill>
                <a:latin typeface="Malgun Gothic"/>
              </a:rPr>
              <a:t>● </a:t>
            </a:r>
            <a:r>
              <a:rPr sz="1400">
                <a:solidFill>
                  <a:srgbClr val="1E293B"/>
                </a:solidFill>
                <a:latin typeface="Malgun Gothic"/>
              </a:rPr>
              <a:t>이메일 알림 (계약서 발송 · 서명 완료)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1A56AA"/>
                </a:solidFill>
                <a:latin typeface="Malgun Gothic"/>
              </a:rPr>
              <a:t>● </a:t>
            </a:r>
            <a:r>
              <a:rPr sz="1400">
                <a:solidFill>
                  <a:srgbClr val="1E293B"/>
                </a:solidFill>
                <a:latin typeface="Malgun Gothic"/>
              </a:rPr>
              <a:t>전자서명 연동  (e.g. DocuSign)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1A56AA"/>
                </a:solidFill>
                <a:latin typeface="Malgun Gothic"/>
              </a:rPr>
              <a:t>● </a:t>
            </a:r>
            <a:r>
              <a:rPr sz="1400">
                <a:solidFill>
                  <a:srgbClr val="1E293B"/>
                </a:solidFill>
                <a:latin typeface="Malgun Gothic"/>
              </a:rPr>
              <a:t>AI 기반 계약서 조항 자동 검토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1A56AA"/>
                </a:solidFill>
                <a:latin typeface="Malgun Gothic"/>
              </a:rPr>
              <a:t>● </a:t>
            </a:r>
            <a:r>
              <a:rPr sz="1400">
                <a:solidFill>
                  <a:srgbClr val="1E293B"/>
                </a:solidFill>
                <a:latin typeface="Malgun Gothic"/>
              </a:rPr>
              <a:t>펀드별 투자 통계 대시보드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1A56AA"/>
                </a:solidFill>
                <a:latin typeface="Malgun Gothic"/>
              </a:rPr>
              <a:t>● </a:t>
            </a:r>
            <a:r>
              <a:rPr sz="1400">
                <a:solidFill>
                  <a:srgbClr val="1E293B"/>
                </a:solidFill>
                <a:latin typeface="Malgun Gothic"/>
              </a:rPr>
              <a:t>다중 이해관계인 지원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1A56AA"/>
                </a:solidFill>
                <a:latin typeface="Malgun Gothic"/>
              </a:rPr>
              <a:t>● </a:t>
            </a:r>
            <a:r>
              <a:rPr sz="1400">
                <a:solidFill>
                  <a:srgbClr val="1E293B"/>
                </a:solidFill>
                <a:latin typeface="Malgun Gothic"/>
              </a:rPr>
              <a:t>계약서 버전 관리 (개정 이력 추적)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1A56AA"/>
                </a:solidFill>
                <a:latin typeface="Malgun Gothic"/>
              </a:rPr>
              <a:t>● </a:t>
            </a:r>
            <a:r>
              <a:rPr sz="1400">
                <a:solidFill>
                  <a:srgbClr val="1E293B"/>
                </a:solidFill>
                <a:latin typeface="Malgun Gothic"/>
              </a:rPr>
              <a:t>관리자용 템플릿 UI 편집기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Malgun Gothic"/>
              </a:rPr>
              <a:t>라이브 데모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9300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BEAFE"/>
                </a:solidFill>
                <a:latin typeface="Malgun Gothic"/>
              </a:rPr>
              <a:t>Live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370832"/>
            <a:ext cx="58064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9028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BEAFE"/>
                </a:solidFill>
                <a:latin typeface="Malgun Gothic"/>
              </a:rPr>
              <a:t>실제 사이트를 직접 시연합니다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76672"/>
            <a:ext cx="11292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Malgun Gothic"/>
              </a:rPr>
              <a:t>대시보드 조회     ·     서류 수집 탭     ·     계약서 작성 &amp; 다운로드     ·     AI 챗봇 시연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